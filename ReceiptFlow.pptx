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7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Nakka" userId="46d04dfad8f3225d" providerId="LiveId" clId="{653A099F-18B9-4092-844B-8630F7D8B1C5}"/>
    <pc:docChg chg="modSld">
      <pc:chgData name="Nikhil Nakka" userId="46d04dfad8f3225d" providerId="LiveId" clId="{653A099F-18B9-4092-844B-8630F7D8B1C5}" dt="2026-04-08T03:47:18.672" v="17" actId="14100"/>
      <pc:docMkLst>
        <pc:docMk/>
      </pc:docMkLst>
      <pc:sldChg chg="modSp mod">
        <pc:chgData name="Nikhil Nakka" userId="46d04dfad8f3225d" providerId="LiveId" clId="{653A099F-18B9-4092-844B-8630F7D8B1C5}" dt="2026-04-08T03:44:54.609" v="2" actId="6549"/>
        <pc:sldMkLst>
          <pc:docMk/>
          <pc:sldMk cId="0" sldId="256"/>
        </pc:sldMkLst>
        <pc:spChg chg="mod">
          <ac:chgData name="Nikhil Nakka" userId="46d04dfad8f3225d" providerId="LiveId" clId="{653A099F-18B9-4092-844B-8630F7D8B1C5}" dt="2026-04-08T03:44:54.609" v="2" actId="6549"/>
          <ac:spMkLst>
            <pc:docMk/>
            <pc:sldMk cId="0" sldId="256"/>
            <ac:spMk id="60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5:48.057" v="6" actId="1076"/>
        <pc:sldMkLst>
          <pc:docMk/>
          <pc:sldMk cId="0" sldId="257"/>
        </pc:sldMkLst>
        <pc:spChg chg="mod">
          <ac:chgData name="Nikhil Nakka" userId="46d04dfad8f3225d" providerId="LiveId" clId="{653A099F-18B9-4092-844B-8630F7D8B1C5}" dt="2026-04-08T03:45:41.137" v="5" actId="14100"/>
          <ac:spMkLst>
            <pc:docMk/>
            <pc:sldMk cId="0" sldId="257"/>
            <ac:spMk id="72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5:48.057" v="6" actId="1076"/>
          <ac:spMkLst>
            <pc:docMk/>
            <pc:sldMk cId="0" sldId="257"/>
            <ac:spMk id="73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5:37.955" v="4" actId="14100"/>
          <ac:spMkLst>
            <pc:docMk/>
            <pc:sldMk cId="0" sldId="257"/>
            <ac:spMk id="77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6:04.032" v="9" actId="14100"/>
        <pc:sldMkLst>
          <pc:docMk/>
          <pc:sldMk cId="0" sldId="258"/>
        </pc:sldMkLst>
        <pc:spChg chg="mod">
          <ac:chgData name="Nikhil Nakka" userId="46d04dfad8f3225d" providerId="LiveId" clId="{653A099F-18B9-4092-844B-8630F7D8B1C5}" dt="2026-04-08T03:45:56.179" v="7" actId="14100"/>
          <ac:spMkLst>
            <pc:docMk/>
            <pc:sldMk cId="0" sldId="258"/>
            <ac:spMk id="89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04.032" v="9" actId="14100"/>
          <ac:spMkLst>
            <pc:docMk/>
            <pc:sldMk cId="0" sldId="258"/>
            <ac:spMk id="97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00.643" v="8" actId="14100"/>
          <ac:spMkLst>
            <pc:docMk/>
            <pc:sldMk cId="0" sldId="258"/>
            <ac:spMk id="101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6:19.870" v="12" actId="14100"/>
        <pc:sldMkLst>
          <pc:docMk/>
          <pc:sldMk cId="0" sldId="259"/>
        </pc:sldMkLst>
        <pc:spChg chg="mod">
          <ac:chgData name="Nikhil Nakka" userId="46d04dfad8f3225d" providerId="LiveId" clId="{653A099F-18B9-4092-844B-8630F7D8B1C5}" dt="2026-04-08T03:46:12.318" v="10" actId="14100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15.202" v="11" actId="14100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19.870" v="12" actId="14100"/>
          <ac:spMkLst>
            <pc:docMk/>
            <pc:sldMk cId="0" sldId="259"/>
            <ac:spMk id="121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6:29.100" v="14" actId="14100"/>
        <pc:sldMkLst>
          <pc:docMk/>
          <pc:sldMk cId="0" sldId="260"/>
        </pc:sldMkLst>
        <pc:spChg chg="mod">
          <ac:chgData name="Nikhil Nakka" userId="46d04dfad8f3225d" providerId="LiveId" clId="{653A099F-18B9-4092-844B-8630F7D8B1C5}" dt="2026-04-08T03:46:25.828" v="13" actId="14100"/>
          <ac:spMkLst>
            <pc:docMk/>
            <pc:sldMk cId="0" sldId="260"/>
            <ac:spMk id="132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29.100" v="14" actId="14100"/>
          <ac:spMkLst>
            <pc:docMk/>
            <pc:sldMk cId="0" sldId="260"/>
            <ac:spMk id="134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6:42.207" v="16" actId="14100"/>
        <pc:sldMkLst>
          <pc:docMk/>
          <pc:sldMk cId="0" sldId="261"/>
        </pc:sldMkLst>
        <pc:spChg chg="mod">
          <ac:chgData name="Nikhil Nakka" userId="46d04dfad8f3225d" providerId="LiveId" clId="{653A099F-18B9-4092-844B-8630F7D8B1C5}" dt="2026-04-08T03:46:42.207" v="16" actId="14100"/>
          <ac:spMkLst>
            <pc:docMk/>
            <pc:sldMk cId="0" sldId="261"/>
            <ac:spMk id="145" creationId="{00000000-0000-0000-0000-000000000000}"/>
          </ac:spMkLst>
        </pc:spChg>
        <pc:spChg chg="mod">
          <ac:chgData name="Nikhil Nakka" userId="46d04dfad8f3225d" providerId="LiveId" clId="{653A099F-18B9-4092-844B-8630F7D8B1C5}" dt="2026-04-08T03:46:39.502" v="15" actId="14100"/>
          <ac:spMkLst>
            <pc:docMk/>
            <pc:sldMk cId="0" sldId="261"/>
            <ac:spMk id="150" creationId="{00000000-0000-0000-0000-000000000000}"/>
          </ac:spMkLst>
        </pc:spChg>
      </pc:sldChg>
      <pc:sldChg chg="modSp mod">
        <pc:chgData name="Nikhil Nakka" userId="46d04dfad8f3225d" providerId="LiveId" clId="{653A099F-18B9-4092-844B-8630F7D8B1C5}" dt="2026-04-08T03:47:18.672" v="17" actId="14100"/>
        <pc:sldMkLst>
          <pc:docMk/>
          <pc:sldMk cId="0" sldId="265"/>
        </pc:sldMkLst>
        <pc:spChg chg="mod">
          <ac:chgData name="Nikhil Nakka" userId="46d04dfad8f3225d" providerId="LiveId" clId="{653A099F-18B9-4092-844B-8630F7D8B1C5}" dt="2026-04-08T03:47:18.672" v="17" actId="14100"/>
          <ac:spMkLst>
            <pc:docMk/>
            <pc:sldMk cId="0" sldId="265"/>
            <ac:spMk id="2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ionic.io/ionicons" TargetMode="External"/><Relationship Id="rId3" Type="http://schemas.openxmlformats.org/officeDocument/2006/relationships/hyperlink" Target="https://reactnative.dev/" TargetMode="External"/><Relationship Id="rId7" Type="http://schemas.openxmlformats.org/officeDocument/2006/relationships/hyperlink" Target="https://ai.google.de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supabase.com/docs" TargetMode="External"/><Relationship Id="rId5" Type="http://schemas.openxmlformats.org/officeDocument/2006/relationships/hyperlink" Target="https://clerk.com/docs" TargetMode="External"/><Relationship Id="rId4" Type="http://schemas.openxmlformats.org/officeDocument/2006/relationships/hyperlink" Target="https://expo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0" y="0"/>
            <a:ext cx="14522125" cy="8229600"/>
            <a:chOff x="0" y="0"/>
            <a:chExt cx="14522125" cy="8229600"/>
          </a:xfrm>
        </p:grpSpPr>
        <p:pic>
          <p:nvPicPr>
            <p:cNvPr id="57" name="Google Shape;57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5486400" cy="822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/>
            <p:nvPr/>
          </p:nvSpPr>
          <p:spPr>
            <a:xfrm>
              <a:off x="6280190" y="2961323"/>
              <a:ext cx="4961811" cy="6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ReceiptFlow</a:t>
              </a:r>
              <a:endParaRPr sz="3900" b="0" i="0" u="none" strike="noStrike" cap="none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6280190" y="3660696"/>
              <a:ext cx="7556421" cy="992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8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Inter"/>
                <a:buNone/>
              </a:pPr>
              <a:r>
                <a:rPr lang="en-US" sz="3100" b="1" i="0" u="none" strike="noStrike" cap="none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AI-Powered OCR Expense Tracking Application</a:t>
              </a:r>
              <a:endParaRPr sz="3100" b="0" i="0" u="none" strike="noStrike" cap="none" dirty="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6280200" y="4950652"/>
              <a:ext cx="7556400" cy="17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Team :</a:t>
              </a:r>
              <a:r>
                <a:rPr lang="en-US" sz="1550" b="0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-  1. Harshith </a:t>
              </a:r>
              <a:r>
                <a:rPr lang="en-US" sz="1550" b="0" i="0" u="none" strike="noStrike" cap="none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Alugu</a:t>
              </a:r>
              <a:r>
                <a:rPr lang="en-US" sz="1550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ri</a:t>
              </a:r>
              <a:r>
                <a:rPr lang="en-US" sz="1550" b="0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(2303A52422)</a:t>
              </a:r>
              <a:endParaRPr sz="15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	2. Nikhil Nakka(2303A52477)</a:t>
              </a:r>
              <a:endParaRPr sz="15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	3. Abhilash </a:t>
              </a:r>
              <a:r>
                <a:rPr lang="en-US" sz="1550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Gundelli</a:t>
              </a:r>
              <a:r>
                <a:rPr lang="en-US" sz="155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(2303A52240)</a:t>
              </a:r>
              <a:endParaRPr sz="15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	4. Sree Kumara </a:t>
              </a:r>
              <a:r>
                <a:rPr lang="en-US" sz="1550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Cheera</a:t>
              </a:r>
              <a:r>
                <a:rPr lang="en-US" sz="155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(2303A52227)</a:t>
              </a:r>
              <a:endParaRPr sz="15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4"/>
          <p:cNvGrpSpPr/>
          <p:nvPr/>
        </p:nvGrpSpPr>
        <p:grpSpPr>
          <a:xfrm>
            <a:off x="793790" y="1995011"/>
            <a:ext cx="13728335" cy="6152289"/>
            <a:chOff x="793790" y="1995011"/>
            <a:chExt cx="13728335" cy="6152289"/>
          </a:xfrm>
        </p:grpSpPr>
        <p:sp>
          <p:nvSpPr>
            <p:cNvPr id="68" name="Google Shape;68;p14"/>
            <p:cNvSpPr/>
            <p:nvPr/>
          </p:nvSpPr>
          <p:spPr>
            <a:xfrm>
              <a:off x="793790" y="1995011"/>
              <a:ext cx="4961811" cy="6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Introduction</a:t>
              </a:r>
              <a:endParaRPr sz="3900" b="0" i="0" u="none" strike="noStrike" cap="none"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93800" y="3011925"/>
              <a:ext cx="6422100" cy="3400800"/>
            </a:xfrm>
            <a:prstGeom prst="roundRect">
              <a:avLst>
                <a:gd name="adj" fmla="val 258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999768" y="3217902"/>
              <a:ext cx="595313" cy="595313"/>
            </a:xfrm>
            <a:prstGeom prst="roundRect">
              <a:avLst>
                <a:gd name="adj" fmla="val 15358451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1" name="Google Shape;71;p1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3479" y="3381494"/>
              <a:ext cx="267891" cy="2678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/>
            <p:nvPr/>
          </p:nvSpPr>
          <p:spPr>
            <a:xfrm>
              <a:off x="999767" y="3932217"/>
              <a:ext cx="3276611" cy="344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What is </a:t>
              </a:r>
              <a:r>
                <a:rPr lang="en-US" sz="1950" b="1" i="0" u="none" strike="noStrike" cap="none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ReceiptFlow</a:t>
              </a: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?</a:t>
              </a:r>
              <a:endParaRPr sz="1950" b="0" i="0" u="none" strike="noStrike" cap="none" dirty="0"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999767" y="4403406"/>
              <a:ext cx="6010275" cy="1587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 dirty="0" err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ReceiptFlow</a:t>
              </a:r>
              <a:r>
                <a:rPr lang="en-US" sz="1550" b="0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is a comprehensive, full-stack mobile application designed to simplify expense tracking and management. By utilizing state-of-the-art AI for Optical Character Recognition (OCR), it allows users to effortlessly scan receipts and automatically categorize their expenses.</a:t>
              </a:r>
              <a:endParaRPr sz="1550" b="0" i="0" u="none" strike="noStrike" cap="none" dirty="0"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7414375" y="3011925"/>
              <a:ext cx="6422100" cy="3400800"/>
            </a:xfrm>
            <a:prstGeom prst="roundRect">
              <a:avLst>
                <a:gd name="adj" fmla="val 258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7620357" y="3217902"/>
              <a:ext cx="595313" cy="595313"/>
            </a:xfrm>
            <a:prstGeom prst="roundRect">
              <a:avLst>
                <a:gd name="adj" fmla="val 15358451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6" name="Google Shape;76;p1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84068" y="3381494"/>
              <a:ext cx="267891" cy="2678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4"/>
            <p:cNvSpPr/>
            <p:nvPr/>
          </p:nvSpPr>
          <p:spPr>
            <a:xfrm>
              <a:off x="7620356" y="4011572"/>
              <a:ext cx="3078123" cy="404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Emerald Ledger UI</a:t>
              </a:r>
              <a:endParaRPr sz="1950" b="0" i="0" u="none" strike="noStrike" cap="none" dirty="0"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7620357" y="4440793"/>
              <a:ext cx="6010275" cy="9526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app provides a high-fidelity user interface—dubbed "Emerald Ledger"—to deliver a professional, seamless, and intuitive mobile experience.</a:t>
              </a:r>
              <a:endParaRPr sz="1550" b="0" i="0" u="none" strike="noStrike" cap="none"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5"/>
          <p:cNvGrpSpPr/>
          <p:nvPr/>
        </p:nvGrpSpPr>
        <p:grpSpPr>
          <a:xfrm>
            <a:off x="793790" y="1834753"/>
            <a:ext cx="13728335" cy="6312547"/>
            <a:chOff x="793790" y="1834753"/>
            <a:chExt cx="13728335" cy="6312547"/>
          </a:xfrm>
        </p:grpSpPr>
        <p:sp>
          <p:nvSpPr>
            <p:cNvPr id="86" name="Google Shape;86;p15"/>
            <p:cNvSpPr/>
            <p:nvPr/>
          </p:nvSpPr>
          <p:spPr>
            <a:xfrm>
              <a:off x="793790" y="1834753"/>
              <a:ext cx="4961811" cy="6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Objectives</a:t>
              </a:r>
              <a:endParaRPr sz="3900" b="0" i="0" u="none" strike="noStrike" cap="none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793824" y="2851675"/>
              <a:ext cx="6807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550" b="0" i="0" u="none" strike="noStrike" cap="none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93790" y="3165991"/>
              <a:ext cx="6422231" cy="22860"/>
            </a:xfrm>
            <a:prstGeom prst="rect">
              <a:avLst/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93790" y="3310890"/>
              <a:ext cx="3732490" cy="307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Automate Expense Tracking</a:t>
              </a:r>
              <a:endParaRPr sz="1950" b="0" i="0" u="none" strike="noStrike" cap="none" dirty="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93790" y="3740110"/>
              <a:ext cx="6422231" cy="63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Eliminate manual data entry by extracting transaction details from receipt images using Google Generative AI (OCR).</a:t>
              </a:r>
              <a:endParaRPr sz="1550" b="0" i="0" u="none" strike="noStrike" cap="none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7414362" y="2851675"/>
              <a:ext cx="8661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550" b="0" i="0" u="none" strike="noStrike" cap="none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7414379" y="3165991"/>
              <a:ext cx="6422231" cy="22860"/>
            </a:xfrm>
            <a:prstGeom prst="rect">
              <a:avLst/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414379" y="3310890"/>
              <a:ext cx="3225998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Seamless User Experience</a:t>
              </a:r>
              <a:endParaRPr sz="1950" b="0" i="0" u="none" strike="noStrike" cap="none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7414379" y="3740110"/>
              <a:ext cx="6422231" cy="63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Provide a smooth, "Emerald Ledger"-styled interface with modern typography and center action buttons (FAB).</a:t>
              </a:r>
              <a:endParaRPr sz="1550" b="0" i="0" u="none" strike="noStrike" cap="none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793867" y="4722375"/>
              <a:ext cx="15291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550" b="0" i="0" u="none" strike="noStrike" cap="none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93790" y="5036701"/>
              <a:ext cx="6422231" cy="22860"/>
            </a:xfrm>
            <a:prstGeom prst="rect">
              <a:avLst/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93790" y="5181600"/>
              <a:ext cx="5892760" cy="294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Secure Authentication &amp; Data Synchronization</a:t>
              </a:r>
              <a:endParaRPr sz="1950" b="0" i="0" u="none" strike="noStrike" cap="none" dirty="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793790" y="5610820"/>
              <a:ext cx="6422231" cy="63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Ensure robust user accounts via Clerk and real-time, secure database syncing through Supabase.</a:t>
              </a:r>
              <a:endParaRPr sz="1550" b="0" i="0" u="none" strike="noStrike" cap="none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414361" y="4722375"/>
              <a:ext cx="8661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550" b="0" i="0" u="none" strike="noStrike" cap="none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7414379" y="5036701"/>
              <a:ext cx="6422231" cy="22860"/>
            </a:xfrm>
            <a:prstGeom prst="rect">
              <a:avLst/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7414379" y="5181600"/>
              <a:ext cx="3032641" cy="3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Reliable Deployment</a:t>
              </a:r>
              <a:endParaRPr sz="1950" b="0" i="0" u="none" strike="noStrike" cap="none" dirty="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7414379" y="5610820"/>
              <a:ext cx="6422231" cy="63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Provide a production-ready Android application capable of handling environment configurations and secure API key management.</a:t>
              </a:r>
              <a:endParaRPr sz="1550" b="0" i="0" u="none" strike="noStrike" cap="none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793790" y="662464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Inter"/>
              <a:buNone/>
            </a:pPr>
            <a:r>
              <a:rPr lang="en-US" sz="3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Stakeholders</a:t>
            </a:r>
            <a:endParaRPr sz="3900" b="0" i="0" u="none" strike="noStrike" cap="none"/>
          </a:p>
        </p:txBody>
      </p:sp>
      <p:sp>
        <p:nvSpPr>
          <p:cNvPr id="111" name="Google Shape;111;p16"/>
          <p:cNvSpPr/>
          <p:nvPr/>
        </p:nvSpPr>
        <p:spPr>
          <a:xfrm>
            <a:off x="793790" y="1580198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015008" y="1801416"/>
            <a:ext cx="3328392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Everyday Consumers</a:t>
            </a:r>
            <a:endParaRPr sz="1950" b="0" i="0" u="none" strike="noStrike" cap="none" dirty="0"/>
          </a:p>
        </p:txBody>
      </p:sp>
      <p:sp>
        <p:nvSpPr>
          <p:cNvPr id="113" name="Google Shape;113;p16"/>
          <p:cNvSpPr/>
          <p:nvPr/>
        </p:nvSpPr>
        <p:spPr>
          <a:xfrm>
            <a:off x="1015008" y="2230636"/>
            <a:ext cx="7113984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Individuals looking for an effective way to track personal daily expenses and save time parsing physical receipts.</a:t>
            </a:r>
            <a:endParaRPr sz="1550" b="0" i="0" u="none" strike="noStrike" cap="none"/>
          </a:p>
        </p:txBody>
      </p:sp>
      <p:sp>
        <p:nvSpPr>
          <p:cNvPr id="114" name="Google Shape;114;p16"/>
          <p:cNvSpPr/>
          <p:nvPr/>
        </p:nvSpPr>
        <p:spPr>
          <a:xfrm>
            <a:off x="793790" y="3285292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1015008" y="3506510"/>
            <a:ext cx="5305782" cy="42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Freelancers &amp; Independent Contractors</a:t>
            </a:r>
            <a:endParaRPr sz="1950" b="0" i="0" u="none" strike="noStrike" cap="none" dirty="0"/>
          </a:p>
        </p:txBody>
      </p:sp>
      <p:sp>
        <p:nvSpPr>
          <p:cNvPr id="116" name="Google Shape;116;p16"/>
          <p:cNvSpPr/>
          <p:nvPr/>
        </p:nvSpPr>
        <p:spPr>
          <a:xfrm>
            <a:off x="1015008" y="3935730"/>
            <a:ext cx="7113984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Professionals who need to keep accurate records of their business purchases for accounting and tax purposes.</a:t>
            </a:r>
            <a:endParaRPr sz="1550" b="0" i="0" u="none" strike="noStrike" cap="none"/>
          </a:p>
        </p:txBody>
      </p:sp>
      <p:sp>
        <p:nvSpPr>
          <p:cNvPr id="117" name="Google Shape;117;p16"/>
          <p:cNvSpPr/>
          <p:nvPr/>
        </p:nvSpPr>
        <p:spPr>
          <a:xfrm>
            <a:off x="793790" y="4990386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015008" y="5211604"/>
            <a:ext cx="2833092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Small Business Owners</a:t>
            </a:r>
            <a:endParaRPr sz="1950" b="0" i="0" u="none" strike="noStrike" cap="none"/>
          </a:p>
        </p:txBody>
      </p:sp>
      <p:sp>
        <p:nvSpPr>
          <p:cNvPr id="119" name="Google Shape;119;p16"/>
          <p:cNvSpPr/>
          <p:nvPr/>
        </p:nvSpPr>
        <p:spPr>
          <a:xfrm>
            <a:off x="1015008" y="5640824"/>
            <a:ext cx="7113984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Businesses looking for a swift tool to log operational expenses.</a:t>
            </a:r>
            <a:endParaRPr sz="1550" b="0" i="0" u="none" strike="noStrike" cap="none"/>
          </a:p>
        </p:txBody>
      </p:sp>
      <p:sp>
        <p:nvSpPr>
          <p:cNvPr id="120" name="Google Shape;120;p16"/>
          <p:cNvSpPr/>
          <p:nvPr/>
        </p:nvSpPr>
        <p:spPr>
          <a:xfrm>
            <a:off x="793790" y="6377940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15007" y="6599158"/>
            <a:ext cx="4740593" cy="42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Maintainers / Developers</a:t>
            </a:r>
            <a:endParaRPr sz="1950" b="0" i="0" u="none" strike="noStrike" cap="none" dirty="0"/>
          </a:p>
        </p:txBody>
      </p:sp>
      <p:sp>
        <p:nvSpPr>
          <p:cNvPr id="122" name="Google Shape;122;p16"/>
          <p:cNvSpPr/>
          <p:nvPr/>
        </p:nvSpPr>
        <p:spPr>
          <a:xfrm>
            <a:off x="1015008" y="7028378"/>
            <a:ext cx="7113984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underlying team ensuring application stability, security, and updates.</a:t>
            </a:r>
            <a:endParaRPr sz="15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793790" y="1664125"/>
            <a:ext cx="13728335" cy="6483175"/>
            <a:chOff x="793790" y="1664125"/>
            <a:chExt cx="13728335" cy="6483175"/>
          </a:xfrm>
        </p:grpSpPr>
        <p:sp>
          <p:nvSpPr>
            <p:cNvPr id="129" name="Google Shape;129;p17"/>
            <p:cNvSpPr/>
            <p:nvPr/>
          </p:nvSpPr>
          <p:spPr>
            <a:xfrm>
              <a:off x="793802" y="1664125"/>
              <a:ext cx="131517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Programming Languages, Tools, and Software</a:t>
              </a:r>
              <a:endParaRPr sz="3900" b="0" i="0" u="none" strike="noStrike" cap="none"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793790" y="2780228"/>
              <a:ext cx="2480905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Languages</a:t>
              </a:r>
              <a:endParaRPr sz="1950" b="0" i="0" u="none" strike="noStrike" cap="none"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793790" y="3288744"/>
              <a:ext cx="6279356" cy="704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JavaScript (ES6+)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TypeScript</a:t>
              </a:r>
              <a:endParaRPr sz="1550" b="0" i="0" u="none" strike="noStrike" cap="none"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793790" y="4191594"/>
              <a:ext cx="3378160" cy="3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Frontend (Mobile Tab)</a:t>
              </a:r>
              <a:endParaRPr sz="1950" b="0" i="0" u="none" strike="noStrike" cap="none" dirty="0"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793790" y="4700111"/>
              <a:ext cx="6279356" cy="1408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React Native &amp; Expo (expo-router, expo-camera, expo-image-picker)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Clerk (Authentication via @clerk/clerk-expo)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React Navigation (Bottom Tabs)</a:t>
              </a:r>
              <a:endParaRPr sz="1550" b="0" i="0" u="none" strike="noStrike" cap="none"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7564874" y="2780228"/>
              <a:ext cx="3476506" cy="408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Backend &amp; Integration</a:t>
              </a:r>
              <a:endParaRPr sz="1950" b="0" i="0" u="none" strike="noStrike" cap="none" dirty="0"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7564874" y="3288744"/>
              <a:ext cx="6279356" cy="1408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Node.js &amp; Express API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Google Generative AI (@google/generative-ai) for receipt OCR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Supabase (@supabase/supabase-js) for Database management</a:t>
              </a:r>
              <a:endParaRPr sz="1550" b="0" i="0" u="none" strike="noStrike" cap="none"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7564874" y="4896088"/>
              <a:ext cx="2480905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Tools</a:t>
              </a:r>
              <a:endParaRPr sz="1950" b="0" i="0" u="none" strike="noStrike" cap="none"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7564875" y="5404598"/>
              <a:ext cx="6279300" cy="17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StitchMCP (UI/UX Design Generation)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Cloudflare &amp; Render (Backend routing/deployment)</a:t>
              </a:r>
              <a:endParaRPr sz="1550" b="0" i="0" u="none" strike="noStrike" cap="none"/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Git/GitHub (Version Control)</a:t>
              </a:r>
              <a:endParaRPr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42900" marR="0" lvl="0" indent="-34290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Char char="•"/>
              </a:pPr>
              <a:r>
                <a:rPr lang="en-US" sz="15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Github Copilot</a:t>
              </a:r>
              <a:endParaRPr sz="15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8"/>
          <p:cNvGrpSpPr/>
          <p:nvPr/>
        </p:nvGrpSpPr>
        <p:grpSpPr>
          <a:xfrm>
            <a:off x="793789" y="656153"/>
            <a:ext cx="13728336" cy="7491147"/>
            <a:chOff x="793789" y="656153"/>
            <a:chExt cx="13728336" cy="7491147"/>
          </a:xfrm>
        </p:grpSpPr>
        <p:sp>
          <p:nvSpPr>
            <p:cNvPr id="145" name="Google Shape;145;p18"/>
            <p:cNvSpPr/>
            <p:nvPr/>
          </p:nvSpPr>
          <p:spPr>
            <a:xfrm>
              <a:off x="793789" y="656153"/>
              <a:ext cx="9156263" cy="63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Inter"/>
                <a:buNone/>
              </a:pPr>
              <a:r>
                <a:rPr lang="en-US" sz="3700" b="1" i="0" u="none" strike="noStrike" cap="none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Prompts Used to Generate the Code</a:t>
              </a:r>
              <a:endParaRPr sz="3700" b="0" i="0" u="none" strike="noStrike" cap="none" dirty="0"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793790" y="1603415"/>
              <a:ext cx="13042821" cy="294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862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 b="0" i="1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Here are summaries of the key prompts utilized with the AI Assistant during development:</a:t>
              </a:r>
              <a:endParaRPr sz="1450" b="0" i="0" u="none" strike="noStrike" cap="none"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076563" y="2570321"/>
              <a:ext cx="6148983" cy="188476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793790" y="2381845"/>
              <a:ext cx="565547" cy="565547"/>
            </a:xfrm>
            <a:prstGeom prst="roundRect">
              <a:avLst>
                <a:gd name="adj" fmla="val 80842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" name="Google Shape;149;p18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35117" y="2523292"/>
              <a:ext cx="282773" cy="282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8"/>
            <p:cNvSpPr/>
            <p:nvPr/>
          </p:nvSpPr>
          <p:spPr>
            <a:xfrm>
              <a:off x="982266" y="3126462"/>
              <a:ext cx="3406854" cy="329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24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Architecture &amp; Features</a:t>
              </a:r>
              <a:endParaRPr sz="1850" b="0" i="0" u="none" strike="noStrike" cap="none" dirty="0"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982266" y="3528536"/>
              <a:ext cx="6054923" cy="11768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862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"Complete the ReceiptFlow application by implementing a 4-tab navigation structure with a scanner FAB, integrating expo-image-picker, and ensuring sync between Clerk, Express backend, and Supabase."</a:t>
              </a:r>
              <a:endParaRPr sz="1450" b="0" i="0" u="none" strike="noStrike" cap="none"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7687508" y="2287548"/>
              <a:ext cx="6148983" cy="188476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7404735" y="2099072"/>
              <a:ext cx="565547" cy="565547"/>
            </a:xfrm>
            <a:prstGeom prst="roundRect">
              <a:avLst>
                <a:gd name="adj" fmla="val 80842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8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46062" y="2240518"/>
              <a:ext cx="282773" cy="282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8"/>
            <p:cNvSpPr/>
            <p:nvPr/>
          </p:nvSpPr>
          <p:spPr>
            <a:xfrm>
              <a:off x="7593211" y="2843689"/>
              <a:ext cx="2356842" cy="29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24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UI/UX Design</a:t>
              </a:r>
              <a:endParaRPr sz="1850" b="0" i="0" u="none" strike="noStrike" cap="none"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7593211" y="3245763"/>
              <a:ext cx="6054923" cy="882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862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"Implement the high-fidelity 'Emerald Ledger' design system, replacing emoji-based UI elements with professional Ionicons and mapping custom typography (Inter and Manrope)."</a:t>
              </a:r>
              <a:endParaRPr sz="1450" b="0" i="0" u="none" strike="noStrike" cap="none"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076563" y="5544145"/>
              <a:ext cx="6148983" cy="188476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793790" y="5355669"/>
              <a:ext cx="565547" cy="565547"/>
            </a:xfrm>
            <a:prstGeom prst="roundRect">
              <a:avLst>
                <a:gd name="adj" fmla="val 80842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9" name="Google Shape;159;p18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5117" y="5497116"/>
              <a:ext cx="282773" cy="282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8"/>
            <p:cNvSpPr/>
            <p:nvPr/>
          </p:nvSpPr>
          <p:spPr>
            <a:xfrm>
              <a:off x="982266" y="6100286"/>
              <a:ext cx="2356842" cy="29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24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Deployment</a:t>
              </a:r>
              <a:endParaRPr sz="1850" b="0" i="0" u="none" strike="noStrike" cap="none"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982266" y="6502360"/>
              <a:ext cx="6054923" cy="882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862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"Deploy the application by resolving build-time environment variable crashes, configuring a professional app icon and splash screen, and finalizing the Android APK build."</a:t>
              </a:r>
              <a:endParaRPr sz="1450" b="0" i="0" u="none" strike="noStrike" cap="none"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7687508" y="5261372"/>
              <a:ext cx="6148983" cy="188476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7404735" y="5072896"/>
              <a:ext cx="565547" cy="565547"/>
            </a:xfrm>
            <a:prstGeom prst="roundRect">
              <a:avLst>
                <a:gd name="adj" fmla="val 80842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4" name="Google Shape;164;p18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46062" y="5214342"/>
              <a:ext cx="282773" cy="282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8"/>
            <p:cNvSpPr/>
            <p:nvPr/>
          </p:nvSpPr>
          <p:spPr>
            <a:xfrm>
              <a:off x="7593211" y="5817513"/>
              <a:ext cx="2363867" cy="29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24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Security &amp; Packages</a:t>
              </a:r>
              <a:endParaRPr sz="1850" b="0" i="0" u="none" strike="noStrike" cap="none"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7593211" y="6219587"/>
              <a:ext cx="6054923" cy="882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862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"Prepare the repository for release by mitigating security risks/removing API keys, and update all frontend and backend packages resolving Expo compatibility errors."</a:t>
              </a:r>
              <a:endParaRPr sz="1450" b="0" i="0" u="none" strike="noStrike" cap="none"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9"/>
          <p:cNvGrpSpPr/>
          <p:nvPr/>
        </p:nvGrpSpPr>
        <p:grpSpPr>
          <a:xfrm>
            <a:off x="793790" y="1237536"/>
            <a:ext cx="13728335" cy="6909764"/>
            <a:chOff x="793790" y="1237536"/>
            <a:chExt cx="13728335" cy="6909764"/>
          </a:xfrm>
        </p:grpSpPr>
        <p:sp>
          <p:nvSpPr>
            <p:cNvPr id="174" name="Google Shape;174;p19"/>
            <p:cNvSpPr/>
            <p:nvPr/>
          </p:nvSpPr>
          <p:spPr>
            <a:xfrm>
              <a:off x="793790" y="1237536"/>
              <a:ext cx="4961811" cy="6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Workflow Flowchart</a:t>
              </a:r>
              <a:endParaRPr sz="3900" b="0" i="0" u="none" strike="noStrike" cap="none"/>
            </a:p>
          </p:txBody>
        </p:sp>
        <p:pic>
          <p:nvPicPr>
            <p:cNvPr id="175" name="Google Shape;175;p19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2625" y="2254448"/>
              <a:ext cx="12625030" cy="4737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784546" y="3461174"/>
              <a:ext cx="652135" cy="652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>
              <a:off x="11203535" y="5658461"/>
              <a:ext cx="1904234" cy="7336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3913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300"/>
                <a:buFont typeface="Inter"/>
                <a:buNone/>
              </a:pPr>
              <a:r>
                <a:rPr lang="en-US" sz="230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Process &amp; Sync</a:t>
              </a:r>
              <a:endParaRPr sz="2300" b="0" i="0" u="none" strike="noStrike" cap="none"/>
            </a:p>
          </p:txBody>
        </p:sp>
        <p:pic>
          <p:nvPicPr>
            <p:cNvPr id="178" name="Google Shape;178;p19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97120" y="3462397"/>
              <a:ext cx="652135" cy="652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9"/>
            <p:cNvSpPr/>
            <p:nvPr/>
          </p:nvSpPr>
          <p:spPr>
            <a:xfrm>
              <a:off x="8803678" y="5841874"/>
              <a:ext cx="1904234" cy="366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3913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300"/>
                <a:buFont typeface="Inter"/>
                <a:buNone/>
              </a:pPr>
              <a:r>
                <a:rPr lang="en-US" sz="230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Scan Receipt</a:t>
              </a:r>
              <a:endParaRPr sz="2300" b="0" i="0" u="none" strike="noStrike" cap="none"/>
            </a:p>
          </p:txBody>
        </p:sp>
        <p:pic>
          <p:nvPicPr>
            <p:cNvPr id="180" name="Google Shape;180;p19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010307" y="3462397"/>
              <a:ext cx="652135" cy="652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9"/>
            <p:cNvSpPr/>
            <p:nvPr/>
          </p:nvSpPr>
          <p:spPr>
            <a:xfrm>
              <a:off x="6416864" y="5841874"/>
              <a:ext cx="1904234" cy="366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3913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300"/>
                <a:buFont typeface="Inter"/>
                <a:buNone/>
              </a:pPr>
              <a:r>
                <a:rPr lang="en-US" sz="230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Dashboard</a:t>
              </a:r>
              <a:endParaRPr sz="2300" b="0" i="0" u="none" strike="noStrike" cap="none"/>
            </a:p>
          </p:txBody>
        </p:sp>
        <p:pic>
          <p:nvPicPr>
            <p:cNvPr id="182" name="Google Shape;182;p19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23493" y="3462397"/>
              <a:ext cx="652135" cy="652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9"/>
            <p:cNvSpPr/>
            <p:nvPr/>
          </p:nvSpPr>
          <p:spPr>
            <a:xfrm>
              <a:off x="4030050" y="5841874"/>
              <a:ext cx="1904234" cy="366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3913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300"/>
                <a:buFont typeface="Inter"/>
                <a:buNone/>
              </a:pPr>
              <a:r>
                <a:rPr lang="en-US" sz="230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Authenticate</a:t>
              </a:r>
              <a:endParaRPr sz="2300" b="0" i="0" u="none" strike="noStrike" cap="none"/>
            </a:p>
          </p:txBody>
        </p:sp>
        <p:pic>
          <p:nvPicPr>
            <p:cNvPr id="184" name="Google Shape;184;p19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23636" y="3462397"/>
              <a:ext cx="652135" cy="652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1591065" y="5841874"/>
              <a:ext cx="1904234" cy="366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3913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300"/>
                <a:buFont typeface="Inter"/>
                <a:buNone/>
              </a:pPr>
              <a:r>
                <a:rPr lang="en-US" sz="230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Open App</a:t>
              </a:r>
              <a:endParaRPr sz="2300" b="0" i="0" u="none" strike="noStrike" cap="none"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0"/>
          <p:cNvGrpSpPr/>
          <p:nvPr/>
        </p:nvGrpSpPr>
        <p:grpSpPr>
          <a:xfrm>
            <a:off x="551340" y="532513"/>
            <a:ext cx="13970785" cy="7614787"/>
            <a:chOff x="551340" y="532513"/>
            <a:chExt cx="13970785" cy="7614787"/>
          </a:xfrm>
        </p:grpSpPr>
        <p:sp>
          <p:nvSpPr>
            <p:cNvPr id="193" name="Google Shape;193;p20"/>
            <p:cNvSpPr/>
            <p:nvPr/>
          </p:nvSpPr>
          <p:spPr>
            <a:xfrm>
              <a:off x="793790" y="532513"/>
              <a:ext cx="49617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Front-End View</a:t>
              </a:r>
              <a:endParaRPr sz="3900" b="0" i="0" u="none" strike="noStrike" cap="none"/>
            </a:p>
          </p:txBody>
        </p:sp>
        <p:pic>
          <p:nvPicPr>
            <p:cNvPr id="194" name="Google Shape;194;p20" title="IMG_20260407_231003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2575" y="1272375"/>
              <a:ext cx="3011076" cy="561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0"/>
            <p:cNvSpPr/>
            <p:nvPr/>
          </p:nvSpPr>
          <p:spPr>
            <a:xfrm>
              <a:off x="551340" y="6959130"/>
              <a:ext cx="30423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Dashboard/Home Screen</a:t>
              </a:r>
              <a:endParaRPr sz="1950" b="0" i="0" u="none" strike="noStrike" cap="none"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551340" y="7340464"/>
              <a:ext cx="41823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Showcasing the "Emerald Ledger" layout.</a:t>
              </a:r>
              <a:endParaRPr sz="1550" b="0" i="0" u="none" strike="noStrike" cap="none"/>
            </a:p>
          </p:txBody>
        </p:sp>
        <p:pic>
          <p:nvPicPr>
            <p:cNvPr id="197" name="Google Shape;197;p20" title="IMG_20260407_23102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18375" y="1272425"/>
              <a:ext cx="3011201" cy="561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0"/>
            <p:cNvSpPr/>
            <p:nvPr/>
          </p:nvSpPr>
          <p:spPr>
            <a:xfrm>
              <a:off x="4984374" y="6959138"/>
              <a:ext cx="34905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Scanner FAB &amp; Image Upload</a:t>
              </a:r>
              <a:endParaRPr sz="1950" b="0" i="0" u="none" strike="noStrike" cap="none"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4978774" y="7340475"/>
              <a:ext cx="44304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center Scanner FAB and Image upload screen.</a:t>
              </a:r>
              <a:endParaRPr sz="1550" b="0" i="0" u="none" strike="noStrike" cap="none"/>
            </a:p>
          </p:txBody>
        </p:sp>
        <p:pic>
          <p:nvPicPr>
            <p:cNvPr id="200" name="Google Shape;200;p20" title="IMG_20260407_231035.jp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654300" y="1152625"/>
              <a:ext cx="3011200" cy="57353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/>
            <p:nvPr/>
          </p:nvSpPr>
          <p:spPr>
            <a:xfrm>
              <a:off x="9654302" y="6959138"/>
              <a:ext cx="36945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Parsed Receipt in Expense List</a:t>
              </a:r>
              <a:endParaRPr sz="1950" b="0" i="0" u="none" strike="noStrike" cap="none"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9654302" y="7340496"/>
              <a:ext cx="41823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550"/>
                <a:buFont typeface="Inter"/>
                <a:buNone/>
              </a:pPr>
              <a:r>
                <a:rPr lang="en-US" sz="1550" b="0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 parsed receipt successfully showing up in the Expense list.</a:t>
              </a:r>
              <a:endParaRPr sz="1550" b="0" i="0" u="none" strike="noStrike" cap="none"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1"/>
          <p:cNvGrpSpPr/>
          <p:nvPr/>
        </p:nvGrpSpPr>
        <p:grpSpPr>
          <a:xfrm>
            <a:off x="672565" y="313674"/>
            <a:ext cx="13849560" cy="7833626"/>
            <a:chOff x="672565" y="313674"/>
            <a:chExt cx="13849560" cy="7833626"/>
          </a:xfrm>
        </p:grpSpPr>
        <p:sp>
          <p:nvSpPr>
            <p:cNvPr id="210" name="Google Shape;210;p21"/>
            <p:cNvSpPr/>
            <p:nvPr/>
          </p:nvSpPr>
          <p:spPr>
            <a:xfrm>
              <a:off x="672565" y="313674"/>
              <a:ext cx="4961700" cy="6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Proof of Prompts</a:t>
              </a:r>
              <a:endParaRPr sz="3900" b="0" i="0" u="none" strike="noStrike" cap="none"/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2" name="Google Shape;212;p21" title="Screenshot 2026-04-07 23213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5688" y="893538"/>
              <a:ext cx="3705100" cy="71297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 title="Screenshot 2026-04-07 23220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18826" y="933788"/>
              <a:ext cx="3705101" cy="7049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1" title="Screenshot 2026-04-07 232251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2575" y="933775"/>
              <a:ext cx="3705096" cy="7143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2"/>
          <p:cNvGrpSpPr/>
          <p:nvPr/>
        </p:nvGrpSpPr>
        <p:grpSpPr>
          <a:xfrm>
            <a:off x="770930" y="1624132"/>
            <a:ext cx="13751195" cy="6523168"/>
            <a:chOff x="770930" y="1624132"/>
            <a:chExt cx="13751195" cy="6523168"/>
          </a:xfrm>
        </p:grpSpPr>
        <p:sp>
          <p:nvSpPr>
            <p:cNvPr id="221" name="Google Shape;221;p22"/>
            <p:cNvSpPr/>
            <p:nvPr/>
          </p:nvSpPr>
          <p:spPr>
            <a:xfrm>
              <a:off x="793790" y="1624132"/>
              <a:ext cx="4961811" cy="6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3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Inter"/>
                <a:buNone/>
              </a:pPr>
              <a:r>
                <a:rPr lang="en-US" sz="3900" b="1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References</a:t>
              </a:r>
              <a:endParaRPr sz="3900" b="0" i="0" u="none" strike="noStrike" cap="none"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793790" y="2641044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770930" y="2641044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083588" y="2862263"/>
              <a:ext cx="3899892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React Native Documentation</a:t>
              </a:r>
              <a:endParaRPr sz="1950" b="0" i="0" u="none" strike="noStrike" cap="none" dirty="0"/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1083588" y="3291483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 dirty="0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3"/>
                </a:rPr>
                <a:t>https://reactnative.dev/</a:t>
              </a:r>
              <a:endParaRPr sz="1550" b="0" i="0" u="none" strike="noStrike" cap="none" dirty="0"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7414379" y="2641044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7391519" y="2641044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7704177" y="2862263"/>
              <a:ext cx="2480905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Expo Framework</a:t>
              </a:r>
              <a:endParaRPr sz="1950" b="0" i="0" u="none" strike="noStrike" cap="none"/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7704177" y="3291483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4"/>
                </a:rPr>
                <a:t>https://expo.dev/</a:t>
              </a:r>
              <a:endParaRPr sz="1550" b="0" i="0" u="none" strike="noStrike" cap="none"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793790" y="4028599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770930" y="4028599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1083588" y="4249817"/>
              <a:ext cx="2508290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Clerk Authentication</a:t>
              </a:r>
              <a:endParaRPr sz="1950" b="0" i="0" u="none" strike="noStrike" cap="none"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1083588" y="4679037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5"/>
                </a:rPr>
                <a:t>https://clerk.com/docs</a:t>
              </a:r>
              <a:endParaRPr sz="1550" b="0" i="0" u="none" strike="noStrike" cap="none"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7414379" y="4028599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7391519" y="4028599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2"/>
            <p:cNvSpPr/>
            <p:nvPr/>
          </p:nvSpPr>
          <p:spPr>
            <a:xfrm>
              <a:off x="7704177" y="4249817"/>
              <a:ext cx="3128248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Supabase Documentation</a:t>
              </a:r>
              <a:endParaRPr sz="1950" b="0" i="0" u="none" strike="noStrike" cap="none"/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7704177" y="4679037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6"/>
                </a:rPr>
                <a:t>https://supabase.com/docs</a:t>
              </a:r>
              <a:endParaRPr sz="1550" b="0" i="0" u="none" strike="noStrike" cap="none"/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793790" y="5416153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770930" y="5416153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1083602" y="5637375"/>
              <a:ext cx="48594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Google Generative AI API (Gemini)</a:t>
              </a:r>
              <a:endParaRPr sz="1950" b="0" i="0" u="none" strike="noStrike" cap="none"/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1083588" y="6066592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7"/>
                </a:rPr>
                <a:t>https://ai.google.dev/</a:t>
              </a:r>
              <a:endParaRPr sz="1550" b="0" i="0" u="none" strike="noStrike" cap="none"/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7414379" y="5416153"/>
              <a:ext cx="6422231" cy="1189196"/>
            </a:xfrm>
            <a:prstGeom prst="roundRect">
              <a:avLst>
                <a:gd name="adj" fmla="val 9227"/>
              </a:avLst>
            </a:prstGeom>
            <a:solidFill>
              <a:srgbClr val="FFFFFF"/>
            </a:solidFill>
            <a:ln w="22850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7391519" y="5416153"/>
              <a:ext cx="91440" cy="1189196"/>
            </a:xfrm>
            <a:prstGeom prst="roundRect">
              <a:avLst>
                <a:gd name="adj" fmla="val 91163"/>
              </a:avLst>
            </a:prstGeom>
            <a:solidFill>
              <a:srgbClr val="4950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7704177" y="5637371"/>
              <a:ext cx="2480905" cy="310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950"/>
                <a:buFont typeface="Inter"/>
                <a:buNone/>
              </a:pPr>
              <a:r>
                <a:rPr lang="en-US" sz="1950" b="1" i="0" u="none" strike="noStrike" cap="non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Ionicons</a:t>
              </a:r>
              <a:endParaRPr sz="1950" b="0" i="0" u="none" strike="noStrike" cap="none"/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7704177" y="6066592"/>
              <a:ext cx="5911215" cy="317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29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50BC"/>
                </a:buClr>
                <a:buSzPts val="1550"/>
                <a:buFont typeface="Inter"/>
                <a:buNone/>
              </a:pPr>
              <a:r>
                <a:rPr lang="en-US" sz="1550" b="0" i="0" u="sng" strike="noStrike" cap="none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8"/>
                </a:rPr>
                <a:t>https://ionic.io/ionicons</a:t>
              </a:r>
              <a:endParaRPr sz="1550" b="0" i="0" u="none" strike="noStrike" cap="none"/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12809725" y="7658000"/>
              <a:ext cx="1712400" cy="48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Nakka</cp:lastModifiedBy>
  <cp:revision>1</cp:revision>
  <dcterms:modified xsi:type="dcterms:W3CDTF">2026-04-08T03:47:27Z</dcterms:modified>
</cp:coreProperties>
</file>